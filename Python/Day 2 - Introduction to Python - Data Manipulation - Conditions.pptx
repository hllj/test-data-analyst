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e3737b1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e3737b1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e3737b1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e3737b1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e3737b18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e3737b1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2 - Introduction to Python: Data Manipulation and Conditions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12/12/2024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Manipulation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cứ nhớ với dữ liệu thì mình sẽ có 4 thao tác chính: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- Tạo.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 - Đọc.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Update - Cập nhật.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Delete - Xoá.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CRUD (Create - Read- Update - Delete).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 (1)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Điều kiện chính là cách chúng ta kiểm soát luồng xử lý.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Ví dụ: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Nếu</a:t>
            </a:r>
            <a:r>
              <a:rPr lang="en"/>
              <a:t> a &gt; 0 </a:t>
            </a:r>
            <a:r>
              <a:rPr b="1" lang="en"/>
              <a:t>Thì</a:t>
            </a:r>
            <a:r>
              <a:rPr lang="en"/>
              <a:t> a là số dương. (1 trường hợp).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Nếu</a:t>
            </a:r>
            <a:r>
              <a:rPr lang="en"/>
              <a:t> a chia hết cho 2 bằng 0 </a:t>
            </a:r>
            <a:r>
              <a:rPr b="1" lang="en"/>
              <a:t>Thì </a:t>
            </a:r>
            <a:r>
              <a:rPr lang="en"/>
              <a:t>a là số chẵn, </a:t>
            </a:r>
            <a:r>
              <a:rPr b="1" lang="en"/>
              <a:t>Ngược lại </a:t>
            </a:r>
            <a:r>
              <a:rPr lang="en"/>
              <a:t>a là số lẻ. (2 trường hợp)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Nếu</a:t>
            </a:r>
            <a:r>
              <a:rPr lang="en"/>
              <a:t> tháng trong 1,2,3 </a:t>
            </a:r>
            <a:r>
              <a:rPr b="1" lang="en"/>
              <a:t>Thì</a:t>
            </a:r>
            <a:r>
              <a:rPr lang="en"/>
              <a:t> đó là mùa xuân; </a:t>
            </a:r>
            <a:r>
              <a:rPr b="1" lang="en"/>
              <a:t>Nếu</a:t>
            </a:r>
            <a:r>
              <a:rPr lang="en"/>
              <a:t> tháng trong 4,5,6 </a:t>
            </a:r>
            <a:r>
              <a:rPr b="1" lang="en"/>
              <a:t>Thì</a:t>
            </a:r>
            <a:r>
              <a:rPr lang="en"/>
              <a:t> đó là mùa hè; </a:t>
            </a:r>
            <a:r>
              <a:rPr b="1" lang="en"/>
              <a:t>Nếu</a:t>
            </a:r>
            <a:r>
              <a:rPr lang="en"/>
              <a:t> tháng trong 7,8,9 </a:t>
            </a:r>
            <a:r>
              <a:rPr b="1" lang="en"/>
              <a:t>Thì</a:t>
            </a:r>
            <a:r>
              <a:rPr lang="en"/>
              <a:t> đó là mùa thu; </a:t>
            </a:r>
            <a:r>
              <a:rPr b="1" lang="en"/>
              <a:t>Nếu</a:t>
            </a:r>
            <a:r>
              <a:rPr lang="en"/>
              <a:t> tháng trong 10,11,12 </a:t>
            </a:r>
            <a:r>
              <a:rPr b="1" lang="en"/>
              <a:t>Thì</a:t>
            </a:r>
            <a:r>
              <a:rPr lang="en"/>
              <a:t> đó là mùa đông. (nhiều trường hợp).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 (2)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3601475" y="2432400"/>
            <a:ext cx="2194025" cy="116942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Điều kiện ? (a &gt; 0 ?)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642938" y="1159100"/>
            <a:ext cx="2111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Giá trị đầu vào (biến a)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840700" y="2665213"/>
            <a:ext cx="1991700" cy="703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Thực thi cho trường hợp “Đúng” (Ex: Số dương)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702625" y="4302425"/>
            <a:ext cx="1991700" cy="7038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Thực thi cho trường hợp “</a:t>
            </a:r>
            <a:r>
              <a:rPr lang="en"/>
              <a:t>Sai</a:t>
            </a:r>
            <a:r>
              <a:rPr lang="en"/>
              <a:t>” (</a:t>
            </a:r>
            <a:r>
              <a:rPr lang="en"/>
              <a:t>a là số âm hoặc 0).</a:t>
            </a:r>
            <a:endParaRPr/>
          </a:p>
        </p:txBody>
      </p:sp>
      <p:cxnSp>
        <p:nvCxnSpPr>
          <p:cNvPr id="77" name="Google Shape;77;p16"/>
          <p:cNvCxnSpPr>
            <a:stCxn id="74" idx="2"/>
            <a:endCxn id="73" idx="0"/>
          </p:cNvCxnSpPr>
          <p:nvPr/>
        </p:nvCxnSpPr>
        <p:spPr>
          <a:xfrm>
            <a:off x="4698488" y="1731800"/>
            <a:ext cx="0" cy="7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6"/>
          <p:cNvCxnSpPr>
            <a:stCxn id="73" idx="3"/>
            <a:endCxn id="75" idx="1"/>
          </p:cNvCxnSpPr>
          <p:nvPr/>
        </p:nvCxnSpPr>
        <p:spPr>
          <a:xfrm>
            <a:off x="5795500" y="3017113"/>
            <a:ext cx="10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6"/>
          <p:cNvCxnSpPr>
            <a:stCxn id="73" idx="2"/>
            <a:endCxn id="76" idx="0"/>
          </p:cNvCxnSpPr>
          <p:nvPr/>
        </p:nvCxnSpPr>
        <p:spPr>
          <a:xfrm>
            <a:off x="4698488" y="3601825"/>
            <a:ext cx="0" cy="7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6"/>
          <p:cNvSpPr txBox="1"/>
          <p:nvPr/>
        </p:nvSpPr>
        <p:spPr>
          <a:xfrm>
            <a:off x="5904100" y="2613625"/>
            <a:ext cx="828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Đúng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572000" y="3750375"/>
            <a:ext cx="8280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Sai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
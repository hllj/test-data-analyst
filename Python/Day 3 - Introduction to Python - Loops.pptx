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63c6edab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63c6edab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63c6edab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63c6edab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63c6edab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63c6edab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263c6edab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263c6edab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263c6edab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263c6edab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263c6edab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263c6edab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63c6edab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263c6edab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263c6edab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263c6edab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63c6edab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63c6edab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63c6edab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63c6edab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3 - Introduction to Python - Loops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24/12/2024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Câu lệnh lặp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Được sử dụng khi cần thực hiện một công việc lặp đi lặp lại.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Câu lệnh lặp thường sẽ thực hiện một nhóm các câu lệnh với số lần xác định, hoặc khi thoả mãn điều kiện dừng nào đó.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Ví dụ: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Lặp qua từng ngày trong tháng 12, từ ngày 1 tới ngày 31.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Tính tổng các số từ 1 tới 100.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Nhập vào mật khẩu một người cho tới khi đúng.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loop (1)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Được sử dụng khi lặp các phần tử trong một cấu trúc dữ liệu ví dụ như list, tuple, set, dictionary, range …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Ta đã biết rõ số lần lặp.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Ví dụ: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# Duyệt qua một danh sách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fruits = ["apple", "banana", "cherry"]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for fruit in fruits: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print(fruit)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for loop 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2093375" y="948325"/>
            <a:ext cx="2183700" cy="43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Bắt đầu vòng lặp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2290025" y="2432025"/>
            <a:ext cx="1790400" cy="1428300"/>
          </a:xfrm>
          <a:prstGeom prst="diamond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 phần tử nào còn ?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4866925" y="28149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Xử lý phần tử đó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2093375" y="43437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Thoát khỏi vòng lặp</a:t>
            </a:r>
            <a:endParaRPr/>
          </a:p>
        </p:txBody>
      </p:sp>
      <p:cxnSp>
        <p:nvCxnSpPr>
          <p:cNvPr id="77" name="Google Shape;77;p16"/>
          <p:cNvCxnSpPr>
            <a:stCxn id="74" idx="3"/>
            <a:endCxn id="75" idx="1"/>
          </p:cNvCxnSpPr>
          <p:nvPr/>
        </p:nvCxnSpPr>
        <p:spPr>
          <a:xfrm>
            <a:off x="4080425" y="3146175"/>
            <a:ext cx="7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" name="Google Shape;78;p16"/>
          <p:cNvSpPr txBox="1"/>
          <p:nvPr/>
        </p:nvSpPr>
        <p:spPr>
          <a:xfrm>
            <a:off x="4181325" y="2752850"/>
            <a:ext cx="584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9" name="Google Shape;79;p16"/>
          <p:cNvCxnSpPr>
            <a:stCxn id="74" idx="2"/>
            <a:endCxn id="76" idx="0"/>
          </p:cNvCxnSpPr>
          <p:nvPr/>
        </p:nvCxnSpPr>
        <p:spPr>
          <a:xfrm>
            <a:off x="3185225" y="3860325"/>
            <a:ext cx="0" cy="48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6"/>
          <p:cNvSpPr txBox="1"/>
          <p:nvPr/>
        </p:nvSpPr>
        <p:spPr>
          <a:xfrm>
            <a:off x="3262800" y="3860325"/>
            <a:ext cx="5847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1" name="Google Shape;81;p16"/>
          <p:cNvCxnSpPr>
            <a:stCxn id="75" idx="0"/>
          </p:cNvCxnSpPr>
          <p:nvPr/>
        </p:nvCxnSpPr>
        <p:spPr>
          <a:xfrm flipH="1" rot="5400000">
            <a:off x="4221325" y="1077525"/>
            <a:ext cx="703800" cy="2771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" name="Google Shape;82;p16"/>
          <p:cNvSpPr/>
          <p:nvPr/>
        </p:nvSpPr>
        <p:spPr>
          <a:xfrm>
            <a:off x="2310725" y="1601300"/>
            <a:ext cx="1749000" cy="3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Khởi tạo</a:t>
            </a:r>
            <a:endParaRPr/>
          </a:p>
        </p:txBody>
      </p:sp>
      <p:cxnSp>
        <p:nvCxnSpPr>
          <p:cNvPr id="83" name="Google Shape;83;p16"/>
          <p:cNvCxnSpPr>
            <a:stCxn id="73" idx="2"/>
            <a:endCxn id="82" idx="0"/>
          </p:cNvCxnSpPr>
          <p:nvPr/>
        </p:nvCxnSpPr>
        <p:spPr>
          <a:xfrm>
            <a:off x="3185225" y="1383025"/>
            <a:ext cx="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6"/>
          <p:cNvCxnSpPr>
            <a:stCxn id="82" idx="2"/>
            <a:endCxn id="74" idx="0"/>
          </p:cNvCxnSpPr>
          <p:nvPr/>
        </p:nvCxnSpPr>
        <p:spPr>
          <a:xfrm>
            <a:off x="3185225" y="1934300"/>
            <a:ext cx="0" cy="4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for loop (3)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Ví dụ thêm: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Lặp qua các số trong dãy với range: for i in range(5):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Lặp qua các phần tử trong dictionary: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person = {"name": "Alice", "age": 25, "city": "New York"}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key, value in person.items():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Lồng 2 hay nhiều vòng lặp: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/>
              <a:t>f</a:t>
            </a:r>
            <a:r>
              <a:rPr lang="en"/>
              <a:t>or i in range(10):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for j in range(20):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for k in range(30):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		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 (1)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Thường được sử dụng lặp khi mình có điều kiện dừng.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 có thể không biết rõ số lần lặp.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Ví dụ: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Nhập vào các số cho tới khi tổng của chúng lớn hơn 100.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sum = 0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while sum &lt;= 100: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x = int(input())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sum += 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 (2)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2093375" y="948325"/>
            <a:ext cx="2183700" cy="43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Bắt đầu vòng lặp</a:t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2290025" y="2432025"/>
            <a:ext cx="1790400" cy="1428300"/>
          </a:xfrm>
          <a:prstGeom prst="diamond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Kiểm tra điều kiện dừng ?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4866925" y="28149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Xử lý</a:t>
            </a: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2093375" y="43437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Thoát khỏi vòng lặp</a:t>
            </a:r>
            <a:endParaRPr/>
          </a:p>
        </p:txBody>
      </p:sp>
      <p:cxnSp>
        <p:nvCxnSpPr>
          <p:cNvPr id="106" name="Google Shape;106;p19"/>
          <p:cNvCxnSpPr>
            <a:stCxn id="103" idx="3"/>
            <a:endCxn id="104" idx="1"/>
          </p:cNvCxnSpPr>
          <p:nvPr/>
        </p:nvCxnSpPr>
        <p:spPr>
          <a:xfrm>
            <a:off x="4080425" y="3146175"/>
            <a:ext cx="7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9"/>
          <p:cNvSpPr txBox="1"/>
          <p:nvPr/>
        </p:nvSpPr>
        <p:spPr>
          <a:xfrm>
            <a:off x="4181325" y="2752850"/>
            <a:ext cx="584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8" name="Google Shape;108;p19"/>
          <p:cNvCxnSpPr>
            <a:stCxn id="103" idx="2"/>
            <a:endCxn id="105" idx="0"/>
          </p:cNvCxnSpPr>
          <p:nvPr/>
        </p:nvCxnSpPr>
        <p:spPr>
          <a:xfrm>
            <a:off x="3185225" y="3860325"/>
            <a:ext cx="0" cy="48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9"/>
          <p:cNvSpPr txBox="1"/>
          <p:nvPr/>
        </p:nvSpPr>
        <p:spPr>
          <a:xfrm>
            <a:off x="3262800" y="3860325"/>
            <a:ext cx="5847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0" name="Google Shape;110;p19"/>
          <p:cNvCxnSpPr>
            <a:stCxn id="104" idx="0"/>
          </p:cNvCxnSpPr>
          <p:nvPr/>
        </p:nvCxnSpPr>
        <p:spPr>
          <a:xfrm flipH="1" rot="5400000">
            <a:off x="4221325" y="1077525"/>
            <a:ext cx="703800" cy="2771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" name="Google Shape;111;p19"/>
          <p:cNvSpPr/>
          <p:nvPr/>
        </p:nvSpPr>
        <p:spPr>
          <a:xfrm>
            <a:off x="2310725" y="1601300"/>
            <a:ext cx="1749000" cy="3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Khởi tạo</a:t>
            </a:r>
            <a:endParaRPr/>
          </a:p>
        </p:txBody>
      </p:sp>
      <p:cxnSp>
        <p:nvCxnSpPr>
          <p:cNvPr id="112" name="Google Shape;112;p19"/>
          <p:cNvCxnSpPr>
            <a:stCxn id="102" idx="2"/>
            <a:endCxn id="111" idx="0"/>
          </p:cNvCxnSpPr>
          <p:nvPr/>
        </p:nvCxnSpPr>
        <p:spPr>
          <a:xfrm>
            <a:off x="3185225" y="1383025"/>
            <a:ext cx="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9"/>
          <p:cNvCxnSpPr>
            <a:stCxn id="111" idx="2"/>
            <a:endCxn id="103" idx="0"/>
          </p:cNvCxnSpPr>
          <p:nvPr/>
        </p:nvCxnSpPr>
        <p:spPr>
          <a:xfrm>
            <a:off x="3185225" y="1934300"/>
            <a:ext cx="0" cy="4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 (3)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Chú ý với while loop rất dễ rơi vào trường hợp lặp vô hạn, không thể thoát ra khỏi vòng lặp vì điều kiện dừng không đúng. Vậy nên phải chú ý rất kỹ điều kiện dừng.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Có thể sử dụng các biến lặp để duyệt qua các phần tử như for loop.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và Continue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lệnh thường hay kết hợp với loop thường xuyên là: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</a:t>
            </a:r>
            <a:r>
              <a:rPr lang="en"/>
              <a:t>reak : khi gặp lệnh này, ta sẽ thoát ngay ra khỏi vòng lặp.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</a:t>
            </a:r>
            <a:r>
              <a:rPr lang="en"/>
              <a:t>ontinue: khi gặp lệnh này, ta sẽ chạy tiếp phần còn lại của vòng lặp tới ngay phần kiểm tra điều kiện.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và Continue</a:t>
            </a:r>
            <a:endParaRPr/>
          </a:p>
        </p:txBody>
      </p:sp>
      <p:sp>
        <p:nvSpPr>
          <p:cNvPr id="131" name="Google Shape;131;p22"/>
          <p:cNvSpPr/>
          <p:nvPr/>
        </p:nvSpPr>
        <p:spPr>
          <a:xfrm>
            <a:off x="2093375" y="948325"/>
            <a:ext cx="2183700" cy="43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Bắt đầu vòng lặp</a:t>
            </a:r>
            <a:endParaRPr/>
          </a:p>
        </p:txBody>
      </p:sp>
      <p:sp>
        <p:nvSpPr>
          <p:cNvPr id="132" name="Google Shape;132;p22"/>
          <p:cNvSpPr/>
          <p:nvPr/>
        </p:nvSpPr>
        <p:spPr>
          <a:xfrm>
            <a:off x="2290025" y="2432025"/>
            <a:ext cx="1790400" cy="1428300"/>
          </a:xfrm>
          <a:prstGeom prst="diamond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Kiểm tra điều kiện dừng ?</a:t>
            </a:r>
            <a:endParaRPr/>
          </a:p>
        </p:txBody>
      </p:sp>
      <p:sp>
        <p:nvSpPr>
          <p:cNvPr id="133" name="Google Shape;133;p22"/>
          <p:cNvSpPr/>
          <p:nvPr/>
        </p:nvSpPr>
        <p:spPr>
          <a:xfrm>
            <a:off x="4866925" y="28149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Xử lý</a:t>
            </a:r>
            <a:endParaRPr/>
          </a:p>
        </p:txBody>
      </p:sp>
      <p:sp>
        <p:nvSpPr>
          <p:cNvPr id="134" name="Google Shape;134;p22"/>
          <p:cNvSpPr/>
          <p:nvPr/>
        </p:nvSpPr>
        <p:spPr>
          <a:xfrm>
            <a:off x="2093375" y="43437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Thoát khỏi vòng lặp</a:t>
            </a:r>
            <a:endParaRPr/>
          </a:p>
        </p:txBody>
      </p:sp>
      <p:cxnSp>
        <p:nvCxnSpPr>
          <p:cNvPr id="135" name="Google Shape;135;p22"/>
          <p:cNvCxnSpPr>
            <a:stCxn id="132" idx="3"/>
            <a:endCxn id="133" idx="1"/>
          </p:cNvCxnSpPr>
          <p:nvPr/>
        </p:nvCxnSpPr>
        <p:spPr>
          <a:xfrm>
            <a:off x="4080425" y="3146175"/>
            <a:ext cx="7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2"/>
          <p:cNvSpPr txBox="1"/>
          <p:nvPr/>
        </p:nvSpPr>
        <p:spPr>
          <a:xfrm>
            <a:off x="4181325" y="2752850"/>
            <a:ext cx="584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7" name="Google Shape;137;p22"/>
          <p:cNvCxnSpPr>
            <a:stCxn id="132" idx="2"/>
            <a:endCxn id="134" idx="0"/>
          </p:cNvCxnSpPr>
          <p:nvPr/>
        </p:nvCxnSpPr>
        <p:spPr>
          <a:xfrm>
            <a:off x="3185225" y="3860325"/>
            <a:ext cx="0" cy="48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" name="Google Shape;138;p22"/>
          <p:cNvSpPr txBox="1"/>
          <p:nvPr/>
        </p:nvSpPr>
        <p:spPr>
          <a:xfrm>
            <a:off x="3262800" y="3860325"/>
            <a:ext cx="5847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39" name="Google Shape;139;p22"/>
          <p:cNvCxnSpPr>
            <a:stCxn id="133" idx="0"/>
          </p:cNvCxnSpPr>
          <p:nvPr/>
        </p:nvCxnSpPr>
        <p:spPr>
          <a:xfrm flipH="1" rot="5400000">
            <a:off x="4221325" y="1077525"/>
            <a:ext cx="703800" cy="2771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2"/>
          <p:cNvSpPr/>
          <p:nvPr/>
        </p:nvSpPr>
        <p:spPr>
          <a:xfrm>
            <a:off x="2310725" y="1601300"/>
            <a:ext cx="1749000" cy="3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Khởi tạo</a:t>
            </a:r>
            <a:endParaRPr/>
          </a:p>
        </p:txBody>
      </p:sp>
      <p:cxnSp>
        <p:nvCxnSpPr>
          <p:cNvPr id="141" name="Google Shape;141;p22"/>
          <p:cNvCxnSpPr>
            <a:stCxn id="131" idx="2"/>
            <a:endCxn id="140" idx="0"/>
          </p:cNvCxnSpPr>
          <p:nvPr/>
        </p:nvCxnSpPr>
        <p:spPr>
          <a:xfrm>
            <a:off x="3185225" y="1383025"/>
            <a:ext cx="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2"/>
          <p:cNvCxnSpPr>
            <a:stCxn id="140" idx="2"/>
            <a:endCxn id="132" idx="0"/>
          </p:cNvCxnSpPr>
          <p:nvPr/>
        </p:nvCxnSpPr>
        <p:spPr>
          <a:xfrm>
            <a:off x="3185225" y="1934300"/>
            <a:ext cx="0" cy="4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2"/>
          <p:cNvSpPr/>
          <p:nvPr/>
        </p:nvSpPr>
        <p:spPr>
          <a:xfrm>
            <a:off x="5334925" y="3834525"/>
            <a:ext cx="1247700" cy="221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</a:t>
            </a:r>
            <a:endParaRPr/>
          </a:p>
        </p:txBody>
      </p:sp>
      <p:cxnSp>
        <p:nvCxnSpPr>
          <p:cNvPr id="144" name="Google Shape;144;p22"/>
          <p:cNvCxnSpPr>
            <a:stCxn id="133" idx="2"/>
            <a:endCxn id="143" idx="0"/>
          </p:cNvCxnSpPr>
          <p:nvPr/>
        </p:nvCxnSpPr>
        <p:spPr>
          <a:xfrm>
            <a:off x="5958775" y="3477375"/>
            <a:ext cx="0" cy="3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2"/>
          <p:cNvCxnSpPr>
            <a:stCxn id="143" idx="2"/>
            <a:endCxn id="134" idx="3"/>
          </p:cNvCxnSpPr>
          <p:nvPr/>
        </p:nvCxnSpPr>
        <p:spPr>
          <a:xfrm rot="5400000">
            <a:off x="4808125" y="3524475"/>
            <a:ext cx="619500" cy="1681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2"/>
          <p:cNvSpPr txBox="1"/>
          <p:nvPr/>
        </p:nvSpPr>
        <p:spPr>
          <a:xfrm>
            <a:off x="6072600" y="4254825"/>
            <a:ext cx="20721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Thoát ngay khỏi vòng lặp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và Continue</a:t>
            </a:r>
            <a:endParaRPr/>
          </a:p>
        </p:txBody>
      </p:sp>
      <p:sp>
        <p:nvSpPr>
          <p:cNvPr id="152" name="Google Shape;152;p23"/>
          <p:cNvSpPr/>
          <p:nvPr/>
        </p:nvSpPr>
        <p:spPr>
          <a:xfrm>
            <a:off x="2093375" y="948325"/>
            <a:ext cx="2183700" cy="434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Bắt đầu vòng lặp</a:t>
            </a:r>
            <a:endParaRPr/>
          </a:p>
        </p:txBody>
      </p:sp>
      <p:sp>
        <p:nvSpPr>
          <p:cNvPr id="153" name="Google Shape;153;p23"/>
          <p:cNvSpPr/>
          <p:nvPr/>
        </p:nvSpPr>
        <p:spPr>
          <a:xfrm>
            <a:off x="2290025" y="2432025"/>
            <a:ext cx="1790400" cy="1428300"/>
          </a:xfrm>
          <a:prstGeom prst="diamond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Kiểm tra điều kiện dừng ?</a:t>
            </a:r>
            <a:endParaRPr/>
          </a:p>
        </p:txBody>
      </p:sp>
      <p:sp>
        <p:nvSpPr>
          <p:cNvPr id="154" name="Google Shape;154;p23"/>
          <p:cNvSpPr/>
          <p:nvPr/>
        </p:nvSpPr>
        <p:spPr>
          <a:xfrm>
            <a:off x="4866925" y="28149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Xử lý</a:t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2093375" y="4343775"/>
            <a:ext cx="2183700" cy="662400"/>
          </a:xfrm>
          <a:prstGeom prst="roundRect">
            <a:avLst>
              <a:gd fmla="val 16667" name="adj"/>
            </a:avLst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Thoát khỏi vòng lặp</a:t>
            </a:r>
            <a:endParaRPr/>
          </a:p>
        </p:txBody>
      </p:sp>
      <p:cxnSp>
        <p:nvCxnSpPr>
          <p:cNvPr id="156" name="Google Shape;156;p23"/>
          <p:cNvCxnSpPr>
            <a:stCxn id="153" idx="3"/>
            <a:endCxn id="154" idx="1"/>
          </p:cNvCxnSpPr>
          <p:nvPr/>
        </p:nvCxnSpPr>
        <p:spPr>
          <a:xfrm>
            <a:off x="4080425" y="3146175"/>
            <a:ext cx="786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23"/>
          <p:cNvSpPr txBox="1"/>
          <p:nvPr/>
        </p:nvSpPr>
        <p:spPr>
          <a:xfrm>
            <a:off x="4181325" y="2752850"/>
            <a:ext cx="584700" cy="2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No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58" name="Google Shape;158;p23"/>
          <p:cNvCxnSpPr>
            <a:stCxn id="153" idx="2"/>
            <a:endCxn id="155" idx="0"/>
          </p:cNvCxnSpPr>
          <p:nvPr/>
        </p:nvCxnSpPr>
        <p:spPr>
          <a:xfrm>
            <a:off x="3185225" y="3860325"/>
            <a:ext cx="0" cy="48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23"/>
          <p:cNvSpPr txBox="1"/>
          <p:nvPr/>
        </p:nvSpPr>
        <p:spPr>
          <a:xfrm>
            <a:off x="3262800" y="3860325"/>
            <a:ext cx="5847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Yes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60" name="Google Shape;160;p23"/>
          <p:cNvCxnSpPr>
            <a:stCxn id="154" idx="0"/>
          </p:cNvCxnSpPr>
          <p:nvPr/>
        </p:nvCxnSpPr>
        <p:spPr>
          <a:xfrm flipH="1" rot="5400000">
            <a:off x="4283425" y="1139625"/>
            <a:ext cx="579600" cy="2771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3"/>
          <p:cNvSpPr/>
          <p:nvPr/>
        </p:nvSpPr>
        <p:spPr>
          <a:xfrm>
            <a:off x="2310725" y="1601300"/>
            <a:ext cx="1749000" cy="33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Khởi tạo</a:t>
            </a:r>
            <a:endParaRPr/>
          </a:p>
        </p:txBody>
      </p:sp>
      <p:cxnSp>
        <p:nvCxnSpPr>
          <p:cNvPr id="162" name="Google Shape;162;p23"/>
          <p:cNvCxnSpPr>
            <a:stCxn id="152" idx="2"/>
            <a:endCxn id="161" idx="0"/>
          </p:cNvCxnSpPr>
          <p:nvPr/>
        </p:nvCxnSpPr>
        <p:spPr>
          <a:xfrm>
            <a:off x="3185225" y="1383025"/>
            <a:ext cx="0" cy="21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3"/>
          <p:cNvCxnSpPr>
            <a:stCxn id="161" idx="2"/>
            <a:endCxn id="153" idx="0"/>
          </p:cNvCxnSpPr>
          <p:nvPr/>
        </p:nvCxnSpPr>
        <p:spPr>
          <a:xfrm>
            <a:off x="3185225" y="1934300"/>
            <a:ext cx="0" cy="49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23"/>
          <p:cNvSpPr/>
          <p:nvPr/>
        </p:nvSpPr>
        <p:spPr>
          <a:xfrm>
            <a:off x="5334925" y="3834525"/>
            <a:ext cx="1247700" cy="2211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</a:t>
            </a:r>
            <a:endParaRPr/>
          </a:p>
        </p:txBody>
      </p:sp>
      <p:cxnSp>
        <p:nvCxnSpPr>
          <p:cNvPr id="165" name="Google Shape;165;p23"/>
          <p:cNvCxnSpPr>
            <a:stCxn id="154" idx="2"/>
            <a:endCxn id="164" idx="0"/>
          </p:cNvCxnSpPr>
          <p:nvPr/>
        </p:nvCxnSpPr>
        <p:spPr>
          <a:xfrm>
            <a:off x="5958775" y="3477375"/>
            <a:ext cx="0" cy="35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23"/>
          <p:cNvCxnSpPr>
            <a:stCxn id="164" idx="3"/>
          </p:cNvCxnSpPr>
          <p:nvPr/>
        </p:nvCxnSpPr>
        <p:spPr>
          <a:xfrm rot="10800000">
            <a:off x="3177025" y="2100975"/>
            <a:ext cx="3405600" cy="1844100"/>
          </a:xfrm>
          <a:prstGeom prst="bentConnector3">
            <a:avLst>
              <a:gd fmla="val -41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23"/>
          <p:cNvSpPr txBox="1"/>
          <p:nvPr/>
        </p:nvSpPr>
        <p:spPr>
          <a:xfrm>
            <a:off x="6582625" y="4055625"/>
            <a:ext cx="20721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tiếp tục lần lặp tiếp theo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